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6" d="100"/>
          <a:sy n="96" d="100"/>
        </p:scale>
        <p:origin x="-149" y="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011680"/>
            <a:ext cx="137160" cy="2926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 i="0">
                <a:solidFill>
                  <a:srgbClr val="2563EB"/>
                </a:solidFill>
                <a:latin typeface="Calibri"/>
              </a:rPr>
              <a:t>LOCAL OLLAMA + LANGCHAIN APPLICATION</a:t>
            </a:r>
          </a:p>
          <a:p>
            <a:pPr>
              <a:spcAft>
                <a:spcPts val="1200"/>
              </a:spcAft>
            </a:pPr>
            <a:r>
              <a:rPr sz="4400" b="1" i="0">
                <a:solidFill>
                  <a:srgbClr val="F1F5F9"/>
                </a:solidFill>
                <a:latin typeface="Georgia"/>
              </a:rPr>
              <a:t>Resume Analyzer AI</a:t>
            </a:r>
          </a:p>
          <a:p>
            <a:pPr>
              <a:spcAft>
                <a:spcPts val="2400"/>
              </a:spcAft>
            </a:pPr>
            <a:r>
              <a:rPr sz="1800" b="0" i="0">
                <a:solidFill>
                  <a:srgbClr val="94A3B8"/>
                </a:solidFill>
                <a:latin typeface="Calibri"/>
              </a:rPr>
              <a:t>An intelligent, local placement coach bridging candidate skills and job descriptions.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94A3B8"/>
                </a:solidFill>
                <a:latin typeface="Calibri"/>
              </a:rPr>
              <a:t>Platform: Streamlit | LLM: Gemma2:2b (Ollama) | Framework: LangChain LCEL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94A3B8"/>
                </a:solidFill>
                <a:latin typeface="Calibri"/>
              </a:rPr>
              <a:t>Developed for: help4code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2563EB"/>
                </a:solidFill>
                <a:latin typeface="Calibri"/>
              </a:rPr>
              <a:t>PROJECT VISION</a:t>
            </a:r>
          </a:p>
          <a:p>
            <a:r>
              <a:rPr sz="2200" b="1" i="0">
                <a:solidFill>
                  <a:srgbClr val="0F172A"/>
                </a:solidFill>
                <a:latin typeface="Georgia"/>
              </a:rPr>
              <a:t>AI Placement Coach Bridges the Gap Between Candidates and Target Roles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29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3949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2563EB"/>
                </a:solidFill>
                <a:latin typeface="Georgia"/>
              </a:rPr>
              <a:t>The Placement Coaching Vision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Tailored Context Matching:</a:t>
            </a:r>
            <a:r>
              <a:rPr sz="1400" b="0" i="0">
                <a:solidFill>
                  <a:srgbClr val="64748B"/>
                </a:solidFill>
                <a:latin typeface="Calibri"/>
              </a:rPr>
              <a:t> Instead of simple keyword counting, the tool extracts semantic relationships between a candidate's PDF resume and the target job description.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Actionable Skill Alignment:</a:t>
            </a:r>
            <a:r>
              <a:rPr sz="1400" b="0" i="0">
                <a:solidFill>
                  <a:srgbClr val="64748B"/>
                </a:solidFill>
                <a:latin typeface="Calibri"/>
              </a:rPr>
              <a:t> Highlights not just what is missing, but outlines direct 30-90 day technical upskilling roadmaps to qualify candidates for interviews.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100% Data Privacy &amp; Security:</a:t>
            </a:r>
            <a:r>
              <a:rPr sz="1400" b="0" i="0">
                <a:solidFill>
                  <a:srgbClr val="64748B"/>
                </a:solidFill>
                <a:latin typeface="Calibri"/>
              </a:rPr>
              <a:t> Because the Gemma2:2b model runs locally under Ollama, sensitive personal profile data never leaves the organization's host 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645920"/>
            <a:ext cx="53949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13855" y="19202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0F172A"/>
                </a:solidFill>
                <a:latin typeface="Georgia"/>
              </a:rPr>
              <a:t>Streamlit User Interface Pipeline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1. PDF Ingestion
</a:t>
            </a:r>
            <a:r>
              <a:rPr sz="1300" b="0" i="0">
                <a:solidFill>
                  <a:srgbClr val="64748B"/>
                </a:solidFill>
                <a:latin typeface="Calibri"/>
              </a:rPr>
              <a:t>Candidates upload their PDF CVs via st.file_uploader().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2. Job Description Input
</a:t>
            </a:r>
            <a:r>
              <a:rPr sz="1300" b="0" i="0">
                <a:solidFill>
                  <a:srgbClr val="64748B"/>
                </a:solidFill>
                <a:latin typeface="Calibri"/>
              </a:rPr>
              <a:t>Coaches paste the JD text directly into a text area.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3. Trigger Analysis
</a:t>
            </a:r>
            <a:r>
              <a:rPr sz="1300" b="0" i="0">
                <a:solidFill>
                  <a:srgbClr val="64748B"/>
                </a:solidFill>
                <a:latin typeface="Calibri"/>
              </a:rPr>
              <a:t>st.button("Resume Analysis") triggers the full back-end RAG extraction, vectorization, and model inference.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4. Seamless Presentation
</a:t>
            </a:r>
            <a:r>
              <a:rPr sz="1300" b="0" i="0">
                <a:solidFill>
                  <a:srgbClr val="64748B"/>
                </a:solidFill>
                <a:latin typeface="Calibri"/>
              </a:rPr>
              <a:t>st.write() outputs professional, clear, and structured advisor notes in real-time.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2563EB"/>
                </a:solidFill>
                <a:latin typeface="Calibri"/>
              </a:rPr>
              <a:t>DIAGNOSTIC CAPABILITIES</a:t>
            </a:r>
          </a:p>
          <a:p>
            <a:r>
              <a:rPr sz="2200" b="1" i="0">
                <a:solidFill>
                  <a:srgbClr val="0F172A"/>
                </a:solidFill>
                <a:latin typeface="Georgia"/>
              </a:rPr>
              <a:t>The Application Delivers a Comprehensive 7-Point Diagnostic Output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29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4747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0800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Calibri"/>
              </a:rPr>
              <a:t>Skills Gap Analysis</a:t>
            </a:r>
          </a:p>
          <a:p>
            <a:r>
              <a:rPr sz="1100" b="0" i="0">
                <a:solidFill>
                  <a:srgbClr val="64748B"/>
                </a:solidFill>
                <a:latin typeface="Calibri"/>
              </a:rPr>
              <a:t>Compares candidate experience directly against roles.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4747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297680" y="1645920"/>
            <a:ext cx="50800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34840" y="17830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Calibri"/>
              </a:rPr>
              <a:t>Missing Technologies</a:t>
            </a:r>
          </a:p>
          <a:p>
            <a:r>
              <a:rPr sz="1100" b="0" i="0">
                <a:solidFill>
                  <a:srgbClr val="64748B"/>
                </a:solidFill>
                <a:latin typeface="Calibri"/>
              </a:rPr>
              <a:t>Lists frameworks, languages, &amp; APIs to acquire.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645920"/>
            <a:ext cx="34747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138160" y="1645920"/>
            <a:ext cx="50800" cy="1280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17830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 i="0">
                <a:solidFill>
                  <a:srgbClr val="059669"/>
                </a:solidFill>
                <a:latin typeface="Calibri"/>
              </a:rPr>
              <a:t>ATS Score (0-100)</a:t>
            </a:r>
          </a:p>
          <a:p>
            <a:r>
              <a:rPr sz="1100" b="0" i="0">
                <a:solidFill>
                  <a:srgbClr val="64748B"/>
                </a:solidFill>
                <a:latin typeface="Calibri"/>
              </a:rPr>
              <a:t>Predicts algorithmic CV match score quantitatively.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00400"/>
            <a:ext cx="34747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50800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3375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Calibri"/>
              </a:rPr>
              <a:t>Technical Interview Prep</a:t>
            </a:r>
          </a:p>
          <a:p>
            <a:r>
              <a:rPr sz="1100" b="0" i="0">
                <a:solidFill>
                  <a:srgbClr val="64748B"/>
                </a:solidFill>
                <a:latin typeface="Calibri"/>
              </a:rPr>
              <a:t>Generates sample questions for missing skills.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200400"/>
            <a:ext cx="34747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97680" y="3200400"/>
            <a:ext cx="50800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34840" y="33375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Calibri"/>
              </a:rPr>
              <a:t>Resume Improvements</a:t>
            </a:r>
          </a:p>
          <a:p>
            <a:r>
              <a:rPr sz="1100" b="0" i="0">
                <a:solidFill>
                  <a:srgbClr val="64748B"/>
                </a:solidFill>
                <a:latin typeface="Calibri"/>
              </a:rPr>
              <a:t>Offers bulletproof edits to maximize CV impact.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200400"/>
            <a:ext cx="34747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38160" y="3200400"/>
            <a:ext cx="50800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75320" y="33375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Calibri"/>
              </a:rPr>
              <a:t>Upskilling Roadmap</a:t>
            </a:r>
          </a:p>
          <a:p>
            <a:r>
              <a:rPr sz="1100" b="0" i="0">
                <a:solidFill>
                  <a:srgbClr val="64748B"/>
                </a:solidFill>
                <a:latin typeface="Calibri"/>
              </a:rPr>
              <a:t>Defines 30-90 day tactical target learning plans.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754880"/>
            <a:ext cx="11277295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4754880"/>
            <a:ext cx="50800" cy="1188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489204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 i="0">
                <a:solidFill>
                  <a:srgbClr val="059669"/>
                </a:solidFill>
                <a:latin typeface="Calibri"/>
              </a:rPr>
              <a:t>7. Overall Fit Summary (Executive Digest)</a:t>
            </a:r>
          </a:p>
          <a:p>
            <a:r>
              <a:rPr sz="1200" b="0" i="0">
                <a:solidFill>
                  <a:srgbClr val="0F172A"/>
                </a:solidFill>
                <a:latin typeface="Calibri"/>
              </a:rPr>
              <a:t>Weaves all six quantitative and qualitative indicators into a unified, actionable briefing. Placement coaches can immediately determine whether a candidate is ready for submission, requires minor polishing, or needs a complete structural reskill.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2563EB"/>
                </a:solidFill>
                <a:latin typeface="Calibri"/>
              </a:rPr>
              <a:t>TECHNICAL PIPELINE (RAG)</a:t>
            </a:r>
          </a:p>
          <a:p>
            <a:r>
              <a:rPr sz="2200" b="1" i="0">
                <a:solidFill>
                  <a:srgbClr val="0F172A"/>
                </a:solidFill>
                <a:latin typeface="Georgia"/>
              </a:rPr>
              <a:t>Semantic Search Dynamically Retrieves Relevant Resume Context for LLM Reasoning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29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2560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560320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1F5F9"/>
                </a:solidFill>
                <a:latin typeface="Calibri"/>
              </a:rPr>
              <a:t>1. PDF Extraction</a:t>
            </a:r>
          </a:p>
          <a:p>
            <a:pPr algn="ctr"/>
            <a:r>
              <a:rPr sz="1000" b="1" i="0">
                <a:solidFill>
                  <a:srgbClr val="94A3B8"/>
                </a:solidFill>
                <a:latin typeface="Courier New"/>
              </a:rPr>
              <a:t>extract_pdf()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5468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0F172A"/>
                </a:solidFill>
                <a:latin typeface="Calibri"/>
              </a:rPr>
              <a:t>The application extracts text from uploaded resumes and combines them directly with the pasted target job description, preserving spatial document layout.</a:t>
            </a:r>
          </a:p>
        </p:txBody>
      </p:sp>
      <p:sp>
        <p:nvSpPr>
          <p:cNvPr id="8" name="Chevron 7"/>
          <p:cNvSpPr/>
          <p:nvPr/>
        </p:nvSpPr>
        <p:spPr>
          <a:xfrm>
            <a:off x="3063240" y="3749040"/>
            <a:ext cx="228600" cy="365760"/>
          </a:xfrm>
          <a:prstGeom prst="chevron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355848" y="2011680"/>
            <a:ext cx="2560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55848" y="2011680"/>
            <a:ext cx="2560320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55848" y="21031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1F5F9"/>
                </a:solidFill>
                <a:latin typeface="Calibri"/>
              </a:rPr>
              <a:t>2. Vectorisation</a:t>
            </a:r>
          </a:p>
          <a:p>
            <a:pPr algn="ctr"/>
            <a:r>
              <a:rPr sz="1000" b="1" i="0">
                <a:solidFill>
                  <a:srgbClr val="94A3B8"/>
                </a:solidFill>
                <a:latin typeface="Courier New"/>
              </a:rPr>
              <a:t>create_vector_text()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315468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0F172A"/>
                </a:solidFill>
                <a:latin typeface="Calibri"/>
              </a:rPr>
              <a:t>Generates semantic document chunks and populates a vector store. Text meaning is mapped mathematically to allow high-precision retrieval.</a:t>
            </a:r>
          </a:p>
        </p:txBody>
      </p:sp>
      <p:sp>
        <p:nvSpPr>
          <p:cNvPr id="13" name="Chevron 12"/>
          <p:cNvSpPr/>
          <p:nvPr/>
        </p:nvSpPr>
        <p:spPr>
          <a:xfrm>
            <a:off x="5961888" y="3749040"/>
            <a:ext cx="228600" cy="365760"/>
          </a:xfrm>
          <a:prstGeom prst="chevron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54496" y="2011680"/>
            <a:ext cx="2560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54496" y="2011680"/>
            <a:ext cx="2560320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54496" y="21031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1F5F9"/>
                </a:solidFill>
                <a:latin typeface="Calibri"/>
              </a:rPr>
              <a:t>3. Context Retrieval</a:t>
            </a:r>
          </a:p>
          <a:p>
            <a:pPr algn="ctr"/>
            <a:r>
              <a:rPr sz="1000" b="1" i="0">
                <a:solidFill>
                  <a:srgbClr val="94A3B8"/>
                </a:solidFill>
                <a:latin typeface="Courier New"/>
              </a:rPr>
              <a:t>as_retriever()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315468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0F172A"/>
                </a:solidFill>
                <a:latin typeface="Calibri"/>
              </a:rPr>
              <a:t>The retriever queries the vector database to locate top-k relevant candidate qualifications, ensuring only correct context gets passed to the LLM.</a:t>
            </a:r>
          </a:p>
        </p:txBody>
      </p:sp>
      <p:sp>
        <p:nvSpPr>
          <p:cNvPr id="18" name="Chevron 17"/>
          <p:cNvSpPr/>
          <p:nvPr/>
        </p:nvSpPr>
        <p:spPr>
          <a:xfrm>
            <a:off x="8860536" y="3749040"/>
            <a:ext cx="228600" cy="365760"/>
          </a:xfrm>
          <a:prstGeom prst="chevron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153144" y="2011680"/>
            <a:ext cx="2560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53144" y="2011680"/>
            <a:ext cx="2560320" cy="10058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53144" y="21031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1F5F9"/>
                </a:solidFill>
                <a:latin typeface="Calibri"/>
              </a:rPr>
              <a:t>4. Prompt Generation</a:t>
            </a:r>
          </a:p>
          <a:p>
            <a:pPr algn="ctr"/>
            <a:r>
              <a:rPr sz="1000" b="1" i="0">
                <a:solidFill>
                  <a:srgbClr val="94A3B8"/>
                </a:solidFill>
                <a:latin typeface="Courier New"/>
              </a:rPr>
              <a:t>Gemma2:2b (Ollama)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0304" y="315468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0F172A"/>
                </a:solidFill>
                <a:latin typeface="Calibri"/>
              </a:rPr>
              <a:t>LangChain passes the retrieved context and instruction template to Gemma2:2b locally via Ollama, outputting secure coaching advisories.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2563EB"/>
                </a:solidFill>
                <a:latin typeface="Calibri"/>
              </a:rPr>
              <a:t>CODE IMPLEMENTATION</a:t>
            </a:r>
          </a:p>
          <a:p>
            <a:r>
              <a:rPr sz="2200" b="1" i="0">
                <a:solidFill>
                  <a:srgbClr val="0F172A"/>
                </a:solidFill>
                <a:latin typeface="Georgia"/>
              </a:rPr>
              <a:t>LangChain LCEL Chain Orchestrates a Highly Efficient Local Inference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29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45720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4023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2563EB"/>
                </a:solidFill>
                <a:latin typeface="Georgia"/>
              </a:rPr>
              <a:t>Dynamic LCEL Orchestration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0F172A"/>
                </a:solidFill>
                <a:latin typeface="Calibri"/>
              </a:rPr>
              <a:t>Input Merging:</a:t>
            </a:r>
            <a:r>
              <a:rPr sz="1300" b="0" i="0">
                <a:solidFill>
                  <a:srgbClr val="64748B"/>
                </a:solidFill>
                <a:latin typeface="Calibri"/>
              </a:rPr>
              <a:t> RunnablePassthrough passes user's query seamlessly to the chain parallel to the retrieved context.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0F172A"/>
                </a:solidFill>
                <a:latin typeface="Calibri"/>
              </a:rPr>
              <a:t>Prompt Templating:</a:t>
            </a:r>
            <a:r>
              <a:rPr sz="1300" b="0" i="0">
                <a:solidFill>
                  <a:srgbClr val="64748B"/>
                </a:solidFill>
                <a:latin typeface="Calibri"/>
              </a:rPr>
              <a:t> ChatPromptTemplate constructs a customized Persona system message enforcing structured output points.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0F172A"/>
                </a:solidFill>
                <a:latin typeface="Calibri"/>
              </a:rPr>
              <a:t>Ollama Gemma Model:</a:t>
            </a:r>
            <a:r>
              <a:rPr sz="1300" b="0" i="0">
                <a:solidFill>
                  <a:srgbClr val="64748B"/>
                </a:solidFill>
                <a:latin typeface="Calibri"/>
              </a:rPr>
              <a:t> Local Gemma2:2b processes the prompt context securely in memory without public APIs.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0F172A"/>
                </a:solidFill>
                <a:latin typeface="Calibri"/>
              </a:rPr>
              <a:t>Output Parsing:</a:t>
            </a:r>
            <a:r>
              <a:rPr sz="1300" b="0" i="0">
                <a:solidFill>
                  <a:srgbClr val="64748B"/>
                </a:solidFill>
                <a:latin typeface="Calibri"/>
              </a:rPr>
              <a:t> StrOutputParser formats response streams into clean, standard strings for Streamlit rendering.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3695" y="1645920"/>
            <a:ext cx="6400800" cy="4572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08015" y="1920240"/>
            <a:ext cx="5852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1F5F9"/>
                </a:solidFill>
                <a:latin typeface="Courier New"/>
              </a:rPr>
              <a:t>chain = (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1F5F9"/>
                </a:solidFill>
                <a:latin typeface="Courier New"/>
              </a:rP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1F5F9"/>
                </a:solidFill>
                <a:latin typeface="Courier New"/>
              </a:rPr>
              <a:t>        "context": retriever,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1F5F9"/>
                </a:solidFill>
                <a:latin typeface="Courier New"/>
              </a:rPr>
              <a:t>        "question": RunnablePassthrough()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1F5F9"/>
                </a:solidFill>
                <a:latin typeface="Courier New"/>
              </a:rP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1F5F9"/>
                </a:solidFill>
                <a:latin typeface="Courier New"/>
              </a:rPr>
              <a:t>    | prompt | llm | StrOutputParser()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1F5F9"/>
                </a:solidFill>
                <a:latin typeface="Courier New"/>
              </a:rPr>
              <a:t>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1F5F9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1F5F9"/>
                </a:solidFill>
                <a:latin typeface="Courier New"/>
              </a:rPr>
              <a:t>response = chain.invoke(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1F5F9"/>
                </a:solidFill>
                <a:latin typeface="Courier New"/>
              </a:rPr>
              <a:t>    "Analyze resume against job description"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1F5F9"/>
                </a:solidFill>
                <a:latin typeface="Courier New"/>
              </a:rPr>
              <a:t>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1F5F9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1F5F9"/>
                </a:solidFill>
                <a:latin typeface="Courier New"/>
              </a:rPr>
              <a:t># Renders directly to Streamlit UI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1F5F9"/>
                </a:solidFill>
                <a:latin typeface="Courier New"/>
              </a:rPr>
              <a:t>st.subheader("Analysis Result")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1F5F9"/>
                </a:solidFill>
                <a:latin typeface="Courier New"/>
              </a:rPr>
              <a:t>st.write(response)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2563EB"/>
                </a:solidFill>
                <a:latin typeface="Calibri"/>
              </a:rPr>
              <a:t>FUTURE ROADMAP</a:t>
            </a:r>
          </a:p>
          <a:p>
            <a:r>
              <a:rPr sz="2200" b="1" i="0">
                <a:solidFill>
                  <a:srgbClr val="F1F5F9"/>
                </a:solidFill>
                <a:latin typeface="Georgia"/>
              </a:rPr>
              <a:t>Scale the Tool with Cloud Vector Databases and Advanced Fine-Tuning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295" cy="190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347472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347472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 b="1" i="0">
                <a:solidFill>
                  <a:srgbClr val="F1F5F9"/>
                </a:solidFill>
                <a:latin typeface="Georgia"/>
              </a:rPr>
              <a:t>1. Production Data Scaling</a:t>
            </a:r>
          </a:p>
          <a:p>
            <a:pPr>
              <a:spcAft>
                <a:spcPts val="1200"/>
              </a:spcAft>
            </a:pPr>
            <a:r>
              <a:rPr sz="1100" b="1" i="0">
                <a:solidFill>
                  <a:srgbClr val="2563EB"/>
                </a:solidFill>
                <a:latin typeface="Calibri"/>
              </a:rPr>
              <a:t>Replace In-Memory Storage</a:t>
            </a:r>
          </a:p>
          <a:p>
            <a:r>
              <a:rPr sz="1300" b="0" i="0">
                <a:solidFill>
                  <a:srgbClr val="94A3B8"/>
                </a:solidFill>
                <a:latin typeface="Calibri"/>
              </a:rPr>
              <a:t>Transition the local in-memory vector storage to a persistent database (e.g., Pinecone, Chroma, or pgvector) to enable long-term caching of thousands of profile structures without consuming heavy execution memory.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737360"/>
            <a:ext cx="347472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297680" y="1737360"/>
            <a:ext cx="347472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201168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 b="1" i="0">
                <a:solidFill>
                  <a:srgbClr val="F1F5F9"/>
                </a:solidFill>
                <a:latin typeface="Georgia"/>
              </a:rPr>
              <a:t>2. Multi-Candidate Analytics</a:t>
            </a:r>
          </a:p>
          <a:p>
            <a:pPr>
              <a:spcAft>
                <a:spcPts val="1200"/>
              </a:spcAft>
            </a:pPr>
            <a:r>
              <a:rPr sz="1100" b="1" i="0">
                <a:solidFill>
                  <a:srgbClr val="059669"/>
                </a:solidFill>
                <a:latin typeface="Calibri"/>
              </a:rPr>
              <a:t>Batch CV Processing</a:t>
            </a:r>
          </a:p>
          <a:p>
            <a:r>
              <a:rPr sz="1300" b="0" i="0">
                <a:solidFill>
                  <a:srgbClr val="94A3B8"/>
                </a:solidFill>
                <a:latin typeface="Calibri"/>
              </a:rPr>
              <a:t>Extend the Streamlit front-end to support multi-resume ingestion and automated candidate ranking, allowing corporate coaches to evaluate entire cohorts of candidates against a single JD instantly.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737360"/>
            <a:ext cx="347472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138160" y="1737360"/>
            <a:ext cx="347472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201168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 b="1" i="0">
                <a:solidFill>
                  <a:srgbClr val="F1F5F9"/>
                </a:solidFill>
                <a:latin typeface="Georgia"/>
              </a:rPr>
              <a:t>3. Local Model Upgrades</a:t>
            </a:r>
          </a:p>
          <a:p>
            <a:pPr>
              <a:spcAft>
                <a:spcPts val="1200"/>
              </a:spcAft>
            </a:pPr>
            <a:r>
              <a:rPr sz="1100" b="1" i="0">
                <a:solidFill>
                  <a:srgbClr val="2563EB"/>
                </a:solidFill>
                <a:latin typeface="Calibri"/>
              </a:rPr>
              <a:t>Leverage Larger LLMs</a:t>
            </a:r>
          </a:p>
          <a:p>
            <a:r>
              <a:rPr sz="1300" b="0" i="0">
                <a:solidFill>
                  <a:srgbClr val="94A3B8"/>
                </a:solidFill>
                <a:latin typeface="Calibri"/>
              </a:rPr>
              <a:t>Scale up from Gemma2:2b to Llama3-8B or Gemma2-9B local weights. Additionally, fine-tune model parameters specifically on target placement agency data to maximize the ATS alignment recommendation accuracy.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653</Words>
  <Application>Microsoft Office PowerPoint</Application>
  <PresentationFormat>Custom</PresentationFormat>
  <Paragraphs>79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BHARGAV</dc:creator>
  <dc:description>generated using python-pptx</dc:description>
  <cp:lastModifiedBy>BHARGAV</cp:lastModifiedBy>
  <cp:revision>2</cp:revision>
  <dcterms:created xsi:type="dcterms:W3CDTF">2013-01-27T09:14:16Z</dcterms:created>
  <dcterms:modified xsi:type="dcterms:W3CDTF">2026-08-21T09:30:29Z</dcterms:modified>
</cp:coreProperties>
</file>